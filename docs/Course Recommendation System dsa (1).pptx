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 id="259" r:id="rId5"/>
    <p:sldId id="263" r:id="rId6"/>
    <p:sldId id="264" r:id="rId7"/>
    <p:sldId id="265" r:id="rId8"/>
    <p:sldId id="261"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7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8/13/2026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8/13/2026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8/13/2026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8/13/2026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8/13/2026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8/13/2026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8/13/2026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8/13/2026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8/13/2026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8/13/2026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8/13/2026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8/13/2026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4E141-E47F-7D0B-77BC-8DB530457620}"/>
              </a:ext>
            </a:extLst>
          </p:cNvPr>
          <p:cNvSpPr>
            <a:spLocks noGrp="1"/>
          </p:cNvSpPr>
          <p:nvPr>
            <p:ph type="ctrTitle"/>
          </p:nvPr>
        </p:nvSpPr>
        <p:spPr>
          <a:xfrm>
            <a:off x="1069848" y="600635"/>
            <a:ext cx="7315200" cy="3953077"/>
          </a:xfrm>
        </p:spPr>
        <p:txBody>
          <a:bodyPr/>
          <a:lstStyle/>
          <a:p>
            <a:r>
              <a:rPr lang="en-IN" dirty="0">
                <a:latin typeface="Times New Roman" panose="02020603050405020304" pitchFamily="18" charset="0"/>
                <a:cs typeface="Times New Roman" panose="02020603050405020304" pitchFamily="18" charset="0"/>
              </a:rPr>
              <a:t>Course Recommendation System</a:t>
            </a:r>
          </a:p>
        </p:txBody>
      </p:sp>
      <p:sp>
        <p:nvSpPr>
          <p:cNvPr id="3" name="Subtitle 2">
            <a:extLst>
              <a:ext uri="{FF2B5EF4-FFF2-40B4-BE49-F238E27FC236}">
                <a16:creationId xmlns:a16="http://schemas.microsoft.com/office/drawing/2014/main" id="{7283EB26-5009-8B8A-D35D-A0EE56A3C986}"/>
              </a:ext>
            </a:extLst>
          </p:cNvPr>
          <p:cNvSpPr>
            <a:spLocks noGrp="1"/>
          </p:cNvSpPr>
          <p:nvPr>
            <p:ph type="subTitle" idx="1"/>
          </p:nvPr>
        </p:nvSpPr>
        <p:spPr>
          <a:xfrm>
            <a:off x="521110" y="4670245"/>
            <a:ext cx="8495071" cy="1465083"/>
          </a:xfrm>
        </p:spPr>
        <p:txBody>
          <a:bodyPr>
            <a:normAutofit/>
          </a:bodyPr>
          <a:lstStyle/>
          <a:p>
            <a:r>
              <a:rPr lang="en-IN" sz="1600" dirty="0"/>
              <a:t>                                                                                                                                                     G. Rishitha – 2520030101</a:t>
            </a:r>
          </a:p>
          <a:p>
            <a:r>
              <a:rPr lang="en-IN" sz="1600" dirty="0"/>
              <a:t>                                                                                                                                                     K. Srihitha – 2520030153</a:t>
            </a:r>
          </a:p>
          <a:p>
            <a:r>
              <a:rPr lang="en-IN" sz="1600" dirty="0"/>
              <a:t>                                                                                                                                                     CH .Shravya - 2520030322  </a:t>
            </a:r>
            <a:endParaRPr lang="en-IN" dirty="0"/>
          </a:p>
          <a:p>
            <a:endParaRPr lang="en-IN" dirty="0"/>
          </a:p>
        </p:txBody>
      </p:sp>
    </p:spTree>
    <p:extLst>
      <p:ext uri="{BB962C8B-B14F-4D97-AF65-F5344CB8AC3E}">
        <p14:creationId xmlns:p14="http://schemas.microsoft.com/office/powerpoint/2010/main" val="40541207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AB51-7864-1BEE-AF29-09B378FF7C00}"/>
              </a:ext>
            </a:extLst>
          </p:cNvPr>
          <p:cNvSpPr>
            <a:spLocks noGrp="1"/>
          </p:cNvSpPr>
          <p:nvPr>
            <p:ph type="title"/>
          </p:nvPr>
        </p:nvSpPr>
        <p:spPr>
          <a:xfrm>
            <a:off x="3867912" y="285136"/>
            <a:ext cx="5423572" cy="1150374"/>
          </a:xfrm>
        </p:spPr>
        <p:txBody>
          <a:bodyPr>
            <a:normAutofit/>
          </a:bodyPr>
          <a:lstStyle/>
          <a:p>
            <a:r>
              <a:rPr lang="en-IN" sz="4500" dirty="0">
                <a:latin typeface="Times New Roman" panose="02020603050405020304" pitchFamily="18" charset="0"/>
                <a:cs typeface="Times New Roman" panose="02020603050405020304" pitchFamily="18" charset="0"/>
              </a:rPr>
              <a:t>ABSTRACT</a:t>
            </a:r>
          </a:p>
        </p:txBody>
      </p:sp>
      <p:sp>
        <p:nvSpPr>
          <p:cNvPr id="3" name="Text Placeholder 2">
            <a:extLst>
              <a:ext uri="{FF2B5EF4-FFF2-40B4-BE49-F238E27FC236}">
                <a16:creationId xmlns:a16="http://schemas.microsoft.com/office/drawing/2014/main" id="{5BF09EC0-DA33-F39B-F0F8-79F24046FA52}"/>
              </a:ext>
            </a:extLst>
          </p:cNvPr>
          <p:cNvSpPr>
            <a:spLocks noGrp="1"/>
          </p:cNvSpPr>
          <p:nvPr>
            <p:ph type="body" idx="1"/>
          </p:nvPr>
        </p:nvSpPr>
        <p:spPr>
          <a:xfrm>
            <a:off x="3886200" y="1435510"/>
            <a:ext cx="7315200" cy="4151474"/>
          </a:xfrm>
        </p:spPr>
        <p:txBody>
          <a:bodyPr>
            <a:noAutofit/>
          </a:bodyPr>
          <a:lstStyle/>
          <a:p>
            <a:pPr>
              <a:lnSpc>
                <a:spcPct val="150000"/>
              </a:lnSpc>
            </a:pPr>
            <a:r>
              <a:rPr lang="en-IN" sz="1600" dirty="0">
                <a:latin typeface="Times New Roman" panose="02020603050405020304" pitchFamily="18" charset="0"/>
                <a:cs typeface="Times New Roman" panose="02020603050405020304" pitchFamily="18" charset="0"/>
              </a:rPr>
              <a:t>Choosing the right course is one of the biggest challenges students face during their academic journey. Many students are unsure about which courses match their interests, existing skills, educational background, and long-term career goals. The </a:t>
            </a:r>
            <a:r>
              <a:rPr lang="en-IN" sz="1600" b="1" dirty="0">
                <a:latin typeface="Times New Roman" panose="02020603050405020304" pitchFamily="18" charset="0"/>
                <a:cs typeface="Times New Roman" panose="02020603050405020304" pitchFamily="18" charset="0"/>
              </a:rPr>
              <a:t>Course Recommendation System</a:t>
            </a:r>
            <a:r>
              <a:rPr lang="en-IN" sz="1600" dirty="0">
                <a:latin typeface="Times New Roman" panose="02020603050405020304" pitchFamily="18" charset="0"/>
                <a:cs typeface="Times New Roman" panose="02020603050405020304" pitchFamily="18" charset="0"/>
              </a:rPr>
              <a:t> is developed to simplify this decision-making process by providing personalized course suggestions based on user preferences and eligibility. The system considers important factors such as interests, prerequisites, skill level, academic qualifications, and career objectives to recommend the most suitable courses. It also allows users to search, filter, and compare different courses with ease through a simple and user-friendly interface. By offering accurate and relevant recommendations, the system helps students make informed decisions, reduces the time spent searching for suitable courses, and minimizes confusion. Overall, the Course Recommendation System supports students in selecting the right learning path, improving their knowledge, enhancing their skills, and achieving their academic and professional goals more effectively.</a:t>
            </a:r>
          </a:p>
        </p:txBody>
      </p:sp>
    </p:spTree>
    <p:extLst>
      <p:ext uri="{BB962C8B-B14F-4D97-AF65-F5344CB8AC3E}">
        <p14:creationId xmlns:p14="http://schemas.microsoft.com/office/powerpoint/2010/main" val="3342925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B3B7B-EC69-9C29-D86A-2419A22E8E12}"/>
              </a:ext>
            </a:extLst>
          </p:cNvPr>
          <p:cNvSpPr>
            <a:spLocks noGrp="1"/>
          </p:cNvSpPr>
          <p:nvPr>
            <p:ph type="title"/>
          </p:nvPr>
        </p:nvSpPr>
        <p:spPr>
          <a:xfrm>
            <a:off x="3451123" y="294969"/>
            <a:ext cx="7731989" cy="976048"/>
          </a:xfrm>
        </p:spPr>
        <p:txBody>
          <a:bodyPr>
            <a:normAutofit/>
          </a:bodyPr>
          <a:lstStyle/>
          <a:p>
            <a:r>
              <a:rPr lang="en-IN" sz="4000" dirty="0">
                <a:latin typeface="Times New Roman" panose="02020603050405020304" pitchFamily="18" charset="0"/>
                <a:cs typeface="Times New Roman" panose="02020603050405020304" pitchFamily="18" charset="0"/>
              </a:rPr>
              <a:t>PROBLEM STATEMENT</a:t>
            </a:r>
          </a:p>
        </p:txBody>
      </p:sp>
      <p:sp>
        <p:nvSpPr>
          <p:cNvPr id="3" name="Text Placeholder 2">
            <a:extLst>
              <a:ext uri="{FF2B5EF4-FFF2-40B4-BE49-F238E27FC236}">
                <a16:creationId xmlns:a16="http://schemas.microsoft.com/office/drawing/2014/main" id="{2730BBA3-DF90-1050-2FC0-35BEEBC5A03A}"/>
              </a:ext>
            </a:extLst>
          </p:cNvPr>
          <p:cNvSpPr>
            <a:spLocks noGrp="1"/>
          </p:cNvSpPr>
          <p:nvPr>
            <p:ph type="body" idx="1"/>
          </p:nvPr>
        </p:nvSpPr>
        <p:spPr>
          <a:xfrm>
            <a:off x="3578942" y="1271017"/>
            <a:ext cx="7622458" cy="4756157"/>
          </a:xfrm>
        </p:spPr>
        <p:txBody>
          <a:bodyPr>
            <a:noAutofit/>
          </a:bodyPr>
          <a:lstStyle/>
          <a:p>
            <a:pPr>
              <a:lnSpc>
                <a:spcPct val="150000"/>
              </a:lnSpc>
            </a:pPr>
            <a:r>
              <a:rPr lang="en-IN" sz="1600" dirty="0">
                <a:latin typeface="Times New Roman" panose="02020603050405020304" pitchFamily="18" charset="0"/>
                <a:cs typeface="Times New Roman" panose="02020603050405020304" pitchFamily="18" charset="0"/>
              </a:rPr>
              <a:t>Students often face difficulties in selecting the most suitable courses due to the large number of available options and the lack of proper guidance. Many students are unaware of the prerequisites, required skills, and career opportunities associated with different courses, which can lead to poor course selection and reduced academic performance. Traditional methods of searching for courses are time-consuming and do not provide personalized recommendations based on individual interests or career goals. As a result, students may </a:t>
            </a:r>
            <a:r>
              <a:rPr lang="en-IN" sz="1600" dirty="0" err="1">
                <a:latin typeface="Times New Roman" panose="02020603050405020304" pitchFamily="18" charset="0"/>
                <a:cs typeface="Times New Roman" panose="02020603050405020304" pitchFamily="18" charset="0"/>
              </a:rPr>
              <a:t>enroll</a:t>
            </a:r>
            <a:r>
              <a:rPr lang="en-IN" sz="1600" dirty="0">
                <a:latin typeface="Times New Roman" panose="02020603050405020304" pitchFamily="18" charset="0"/>
                <a:cs typeface="Times New Roman" panose="02020603050405020304" pitchFamily="18" charset="0"/>
              </a:rPr>
              <a:t> in courses that do not match their abilities, learning preferences, or future aspirations. There is a need for a system that can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a student's interests, academic background, prerequisites, and career objectives to recommend the most appropriate courses. The </a:t>
            </a:r>
            <a:r>
              <a:rPr lang="en-IN" sz="1600" b="1" dirty="0">
                <a:latin typeface="Times New Roman" panose="02020603050405020304" pitchFamily="18" charset="0"/>
                <a:cs typeface="Times New Roman" panose="02020603050405020304" pitchFamily="18" charset="0"/>
              </a:rPr>
              <a:t>Course Recommendation System</a:t>
            </a:r>
            <a:r>
              <a:rPr lang="en-IN" sz="1600" dirty="0">
                <a:latin typeface="Times New Roman" panose="02020603050405020304" pitchFamily="18" charset="0"/>
                <a:cs typeface="Times New Roman" panose="02020603050405020304" pitchFamily="18" charset="0"/>
              </a:rPr>
              <a:t> addresses this problem by providing personalized, accurate, and user-friendly course recommendations, helping students make informed decisions and choose the right learning path for their academic and professional success.</a:t>
            </a:r>
          </a:p>
        </p:txBody>
      </p:sp>
    </p:spTree>
    <p:extLst>
      <p:ext uri="{BB962C8B-B14F-4D97-AF65-F5344CB8AC3E}">
        <p14:creationId xmlns:p14="http://schemas.microsoft.com/office/powerpoint/2010/main" val="3288108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5EAA8-2860-B5C8-931A-CF3FDDEBA183}"/>
              </a:ext>
            </a:extLst>
          </p:cNvPr>
          <p:cNvSpPr>
            <a:spLocks noGrp="1"/>
          </p:cNvSpPr>
          <p:nvPr>
            <p:ph type="title"/>
          </p:nvPr>
        </p:nvSpPr>
        <p:spPr>
          <a:xfrm>
            <a:off x="3480619" y="393290"/>
            <a:ext cx="4080387" cy="776749"/>
          </a:xfrm>
        </p:spPr>
        <p:txBody>
          <a:bodyPr>
            <a:normAutofit/>
          </a:bodyPr>
          <a:lstStyle/>
          <a:p>
            <a:r>
              <a:rPr lang="en-IN" sz="4500" dirty="0">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a16="http://schemas.microsoft.com/office/drawing/2014/main" id="{E761E8AD-AE6B-6278-43E1-E37104773127}"/>
              </a:ext>
            </a:extLst>
          </p:cNvPr>
          <p:cNvSpPr>
            <a:spLocks noGrp="1"/>
          </p:cNvSpPr>
          <p:nvPr>
            <p:ph type="body" idx="1"/>
          </p:nvPr>
        </p:nvSpPr>
        <p:spPr>
          <a:xfrm>
            <a:off x="3588773" y="1258529"/>
            <a:ext cx="7602794" cy="3913239"/>
          </a:xfrm>
        </p:spPr>
        <p:txBody>
          <a:bodyPr/>
          <a:lstStyle/>
          <a:p>
            <a:pPr marL="342900" lvl="0" indent="-342900">
              <a:lnSpc>
                <a:spcPct val="150000"/>
              </a:lnSpc>
              <a:buFont typeface="Arial" panose="020B0604020202020204" pitchFamily="34" charset="0"/>
              <a:buChar char="•"/>
            </a:pPr>
            <a:r>
              <a:rPr lang="en-IN" sz="2100" dirty="0">
                <a:latin typeface="Times New Roman" panose="02020603050405020304" pitchFamily="18" charset="0"/>
                <a:cs typeface="Times New Roman" panose="02020603050405020304" pitchFamily="18" charset="0"/>
              </a:rPr>
              <a:t>To recommend courses based on student interests. </a:t>
            </a:r>
          </a:p>
          <a:p>
            <a:pPr marL="342900" lvl="0" indent="-342900">
              <a:lnSpc>
                <a:spcPct val="150000"/>
              </a:lnSpc>
              <a:buFont typeface="Arial" panose="020B0604020202020204" pitchFamily="34" charset="0"/>
              <a:buChar char="•"/>
            </a:pPr>
            <a:r>
              <a:rPr lang="en-IN" sz="2100" dirty="0">
                <a:latin typeface="Times New Roman" panose="02020603050405020304" pitchFamily="18" charset="0"/>
                <a:cs typeface="Times New Roman" panose="02020603050405020304" pitchFamily="18" charset="0"/>
              </a:rPr>
              <a:t>To check course prerequisites before recommending. </a:t>
            </a:r>
          </a:p>
          <a:p>
            <a:pPr marL="342900" lvl="0" indent="-342900">
              <a:lnSpc>
                <a:spcPct val="150000"/>
              </a:lnSpc>
              <a:buFont typeface="Arial" panose="020B0604020202020204" pitchFamily="34" charset="0"/>
              <a:buChar char="•"/>
            </a:pPr>
            <a:r>
              <a:rPr lang="en-IN" sz="2100" dirty="0">
                <a:latin typeface="Times New Roman" panose="02020603050405020304" pitchFamily="18" charset="0"/>
                <a:cs typeface="Times New Roman" panose="02020603050405020304" pitchFamily="18" charset="0"/>
              </a:rPr>
              <a:t>To help students choose courses that match their career goals. </a:t>
            </a:r>
          </a:p>
          <a:p>
            <a:pPr marL="342900" lvl="0" indent="-342900">
              <a:lnSpc>
                <a:spcPct val="150000"/>
              </a:lnSpc>
              <a:buFont typeface="Arial" panose="020B0604020202020204" pitchFamily="34" charset="0"/>
              <a:buChar char="•"/>
            </a:pPr>
            <a:r>
              <a:rPr lang="en-IN" sz="2100" dirty="0">
                <a:latin typeface="Times New Roman" panose="02020603050405020304" pitchFamily="18" charset="0"/>
                <a:cs typeface="Times New Roman" panose="02020603050405020304" pitchFamily="18" charset="0"/>
              </a:rPr>
              <a:t>To provide a simple and user-friendly search system. </a:t>
            </a:r>
          </a:p>
          <a:p>
            <a:pPr marL="342900" lvl="0" indent="-342900">
              <a:lnSpc>
                <a:spcPct val="150000"/>
              </a:lnSpc>
              <a:buFont typeface="Arial" panose="020B0604020202020204" pitchFamily="34" charset="0"/>
              <a:buChar char="•"/>
            </a:pPr>
            <a:r>
              <a:rPr lang="en-IN" sz="2100" dirty="0">
                <a:latin typeface="Times New Roman" panose="02020603050405020304" pitchFamily="18" charset="0"/>
                <a:cs typeface="Times New Roman" panose="02020603050405020304" pitchFamily="18" charset="0"/>
              </a:rPr>
              <a:t>To reduce the time spent searching for suitable courses.</a:t>
            </a:r>
          </a:p>
          <a:p>
            <a:endParaRPr lang="en-IN" dirty="0"/>
          </a:p>
        </p:txBody>
      </p:sp>
    </p:spTree>
    <p:extLst>
      <p:ext uri="{BB962C8B-B14F-4D97-AF65-F5344CB8AC3E}">
        <p14:creationId xmlns:p14="http://schemas.microsoft.com/office/powerpoint/2010/main" val="231255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20DE6-11C0-B272-FF49-A55176B203FB}"/>
              </a:ext>
            </a:extLst>
          </p:cNvPr>
          <p:cNvSpPr>
            <a:spLocks noGrp="1"/>
          </p:cNvSpPr>
          <p:nvPr>
            <p:ph type="title"/>
          </p:nvPr>
        </p:nvSpPr>
        <p:spPr>
          <a:xfrm>
            <a:off x="3504118" y="-585020"/>
            <a:ext cx="7315200" cy="1720645"/>
          </a:xfrm>
        </p:spPr>
        <p:txBody>
          <a:bodyPr>
            <a:normAutofit/>
          </a:bodyPr>
          <a:lstStyle/>
          <a:p>
            <a:r>
              <a:rPr lang="en-IN" sz="4000" b="1" dirty="0">
                <a:latin typeface="Times New Roman" panose="02020603050405020304" pitchFamily="18" charset="0"/>
                <a:cs typeface="Times New Roman" panose="02020603050405020304" pitchFamily="18" charset="0"/>
              </a:rPr>
              <a:t>TOOLS AND TECHNOLOGIES</a:t>
            </a:r>
          </a:p>
        </p:txBody>
      </p:sp>
      <p:sp>
        <p:nvSpPr>
          <p:cNvPr id="3" name="Text Placeholder 2">
            <a:extLst>
              <a:ext uri="{FF2B5EF4-FFF2-40B4-BE49-F238E27FC236}">
                <a16:creationId xmlns:a16="http://schemas.microsoft.com/office/drawing/2014/main" id="{235DC2FE-C384-123B-D825-B7609E0E09F8}"/>
              </a:ext>
            </a:extLst>
          </p:cNvPr>
          <p:cNvSpPr>
            <a:spLocks noGrp="1"/>
          </p:cNvSpPr>
          <p:nvPr>
            <p:ph type="body" idx="1"/>
          </p:nvPr>
        </p:nvSpPr>
        <p:spPr>
          <a:xfrm>
            <a:off x="3504118" y="1135626"/>
            <a:ext cx="7315200" cy="4960374"/>
          </a:xfrm>
        </p:spPr>
        <p:txBody>
          <a:bodyPr>
            <a:norm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Java is used as the programming language.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VS Code is used as the development environment.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CSV files are used to store course information and recommendation data.</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KMP algorithm is used for efficient course name and keyword pattern searching.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Rabin-Karp algorithm is used for keyword matching using polynomial rolling hash.</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Edit Distance algorithm is used for fuzzy matching when the student enters an incorrect or partially matching course keyword.</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Dynamic Programming is used to calculate similarity between student preferences and course requirements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Sorting algorithms are used to rank courses according to their recommendation score.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Hashing is used for efficient storage and retrieval of course keywords and attributes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Arrays and custom data structures are used to manage course information.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File handling is used to read and process the course dataset.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0131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7022D-5FED-907C-ECE9-05EE792B6D94}"/>
              </a:ext>
            </a:extLst>
          </p:cNvPr>
          <p:cNvSpPr>
            <a:spLocks noGrp="1"/>
          </p:cNvSpPr>
          <p:nvPr>
            <p:ph type="title"/>
          </p:nvPr>
        </p:nvSpPr>
        <p:spPr>
          <a:xfrm>
            <a:off x="3618271" y="422787"/>
            <a:ext cx="7564841" cy="1150374"/>
          </a:xfrm>
        </p:spPr>
        <p:txBody>
          <a:bodyPr>
            <a:normAutofit fontScale="90000"/>
          </a:bodyPr>
          <a:lstStyle/>
          <a:p>
            <a:r>
              <a:rPr lang="en-IN" sz="4600" b="1" dirty="0">
                <a:latin typeface="Times New Roman" panose="02020603050405020304" pitchFamily="18" charset="0"/>
                <a:cs typeface="Times New Roman" panose="02020603050405020304" pitchFamily="18" charset="0"/>
              </a:rPr>
              <a:t>Proposed Functionalities</a:t>
            </a:r>
            <a:br>
              <a:rPr lang="en-IN" b="1" dirty="0"/>
            </a:br>
            <a:endParaRPr lang="en-IN" dirty="0"/>
          </a:p>
        </p:txBody>
      </p:sp>
      <p:sp>
        <p:nvSpPr>
          <p:cNvPr id="3" name="Text Placeholder 2">
            <a:extLst>
              <a:ext uri="{FF2B5EF4-FFF2-40B4-BE49-F238E27FC236}">
                <a16:creationId xmlns:a16="http://schemas.microsoft.com/office/drawing/2014/main" id="{0BCA910E-6838-487E-FF93-F5331C2E1FE2}"/>
              </a:ext>
            </a:extLst>
          </p:cNvPr>
          <p:cNvSpPr>
            <a:spLocks noGrp="1"/>
          </p:cNvSpPr>
          <p:nvPr>
            <p:ph type="body" idx="1"/>
          </p:nvPr>
        </p:nvSpPr>
        <p:spPr>
          <a:xfrm>
            <a:off x="3618271" y="526648"/>
            <a:ext cx="7315200" cy="6331352"/>
          </a:xfrm>
        </p:spPr>
        <p:txBody>
          <a:bodyPr>
            <a:normAutofit fontScale="25000" lnSpcReduction="20000"/>
          </a:bodyPr>
          <a:lstStyle/>
          <a:p>
            <a:endParaRPr lang="en-US" sz="4800" dirty="0">
              <a:latin typeface="Times New Roman" panose="02020603050405020304" pitchFamily="18" charset="0"/>
              <a:cs typeface="Times New Roman" panose="02020603050405020304" pitchFamily="18" charset="0"/>
            </a:endParaRPr>
          </a:p>
          <a:p>
            <a:r>
              <a:rPr lang="en-US" sz="5600" b="1" dirty="0">
                <a:latin typeface="Times New Roman" panose="02020603050405020304" pitchFamily="18" charset="0"/>
                <a:cs typeface="Times New Roman" panose="02020603050405020304" pitchFamily="18" charset="0"/>
              </a:rPr>
              <a:t>Student Profile Input</a:t>
            </a:r>
          </a:p>
          <a:p>
            <a:r>
              <a:rPr lang="en-US" sz="5600" dirty="0">
                <a:latin typeface="Times New Roman" panose="02020603050405020304" pitchFamily="18" charset="0"/>
                <a:cs typeface="Times New Roman" panose="02020603050405020304" pitchFamily="18" charset="0"/>
              </a:rPr>
              <a:t>Collect interests, skills, academic qualifications, and career goals.</a:t>
            </a:r>
          </a:p>
          <a:p>
            <a:r>
              <a:rPr lang="en-US" sz="5600" b="1" dirty="0">
                <a:latin typeface="Times New Roman" panose="02020603050405020304" pitchFamily="18" charset="0"/>
                <a:cs typeface="Times New Roman" panose="02020603050405020304" pitchFamily="18" charset="0"/>
              </a:rPr>
              <a:t>Course Database</a:t>
            </a:r>
          </a:p>
          <a:p>
            <a:r>
              <a:rPr lang="en-US" sz="5600" dirty="0">
                <a:latin typeface="Times New Roman" panose="02020603050405020304" pitchFamily="18" charset="0"/>
                <a:cs typeface="Times New Roman" panose="02020603050405020304" pitchFamily="18" charset="0"/>
              </a:rPr>
              <a:t>Store course names, descriptions, prerequisites, required skills, and career relevance.</a:t>
            </a:r>
          </a:p>
          <a:p>
            <a:r>
              <a:rPr lang="en-US" sz="5600" b="1" dirty="0">
                <a:latin typeface="Times New Roman" panose="02020603050405020304" pitchFamily="18" charset="0"/>
                <a:cs typeface="Times New Roman" panose="02020603050405020304" pitchFamily="18" charset="0"/>
              </a:rPr>
              <a:t>Personalized Course Recommendation</a:t>
            </a:r>
          </a:p>
          <a:p>
            <a:r>
              <a:rPr lang="en-US" sz="5600" dirty="0">
                <a:latin typeface="Times New Roman" panose="02020603050405020304" pitchFamily="18" charset="0"/>
                <a:cs typeface="Times New Roman" panose="02020603050405020304" pitchFamily="18" charset="0"/>
              </a:rPr>
              <a:t>Recommend suitable courses based on the student's profile and preferences.</a:t>
            </a:r>
          </a:p>
          <a:p>
            <a:r>
              <a:rPr lang="en-US" sz="5600" b="1" dirty="0">
                <a:latin typeface="Times New Roman" panose="02020603050405020304" pitchFamily="18" charset="0"/>
                <a:cs typeface="Times New Roman" panose="02020603050405020304" pitchFamily="18" charset="0"/>
              </a:rPr>
              <a:t>Prerequisite Verification</a:t>
            </a:r>
          </a:p>
          <a:p>
            <a:r>
              <a:rPr lang="en-US" sz="5600" dirty="0">
                <a:latin typeface="Times New Roman" panose="02020603050405020304" pitchFamily="18" charset="0"/>
                <a:cs typeface="Times New Roman" panose="02020603050405020304" pitchFamily="18" charset="0"/>
              </a:rPr>
              <a:t>Check whether the student satisfies the required prerequisites before recommending a course.</a:t>
            </a:r>
          </a:p>
          <a:p>
            <a:r>
              <a:rPr lang="en-US" sz="5600" b="1" dirty="0">
                <a:latin typeface="Times New Roman" panose="02020603050405020304" pitchFamily="18" charset="0"/>
                <a:cs typeface="Times New Roman" panose="02020603050405020304" pitchFamily="18" charset="0"/>
              </a:rPr>
              <a:t>Keyword-Based Course Search</a:t>
            </a:r>
          </a:p>
          <a:p>
            <a:r>
              <a:rPr lang="en-US" sz="5600" dirty="0">
                <a:latin typeface="Times New Roman" panose="02020603050405020304" pitchFamily="18" charset="0"/>
                <a:cs typeface="Times New Roman" panose="02020603050405020304" pitchFamily="18" charset="0"/>
              </a:rPr>
              <a:t>Allow students to quickly search for courses using keywords.</a:t>
            </a:r>
          </a:p>
          <a:p>
            <a:r>
              <a:rPr lang="en-US" sz="5600" b="1" dirty="0">
                <a:latin typeface="Times New Roman" panose="02020603050405020304" pitchFamily="18" charset="0"/>
                <a:cs typeface="Times New Roman" panose="02020603050405020304" pitchFamily="18" charset="0"/>
              </a:rPr>
              <a:t>Fuzzy Search</a:t>
            </a:r>
          </a:p>
          <a:p>
            <a:r>
              <a:rPr lang="en-US" sz="5600" dirty="0">
                <a:latin typeface="Times New Roman" panose="02020603050405020304" pitchFamily="18" charset="0"/>
                <a:cs typeface="Times New Roman" panose="02020603050405020304" pitchFamily="18" charset="0"/>
              </a:rPr>
              <a:t>Handle spelling mistakes and partially matching queries using Edit Distance.</a:t>
            </a:r>
          </a:p>
          <a:p>
            <a:r>
              <a:rPr lang="en-US" sz="5600" b="1" dirty="0">
                <a:latin typeface="Times New Roman" panose="02020603050405020304" pitchFamily="18" charset="0"/>
                <a:cs typeface="Times New Roman" panose="02020603050405020304" pitchFamily="18" charset="0"/>
              </a:rPr>
              <a:t>Course Filtering</a:t>
            </a:r>
          </a:p>
          <a:p>
            <a:r>
              <a:rPr lang="en-US" sz="5600" dirty="0">
                <a:latin typeface="Times New Roman" panose="02020603050405020304" pitchFamily="18" charset="0"/>
                <a:cs typeface="Times New Roman" panose="02020603050405020304" pitchFamily="18" charset="0"/>
              </a:rPr>
              <a:t>Filter courses based on skill level, interests, eligibility, and career goals.</a:t>
            </a:r>
          </a:p>
          <a:p>
            <a:r>
              <a:rPr lang="en-US" sz="5600" b="1" dirty="0">
                <a:latin typeface="Times New Roman" panose="02020603050405020304" pitchFamily="18" charset="0"/>
                <a:cs typeface="Times New Roman" panose="02020603050405020304" pitchFamily="18" charset="0"/>
              </a:rPr>
              <a:t>Recommendation Ranking</a:t>
            </a:r>
          </a:p>
          <a:p>
            <a:r>
              <a:rPr lang="en-US" sz="5600" dirty="0">
                <a:latin typeface="Times New Roman" panose="02020603050405020304" pitchFamily="18" charset="0"/>
                <a:cs typeface="Times New Roman" panose="02020603050405020304" pitchFamily="18" charset="0"/>
              </a:rPr>
              <a:t>Rank courses according to their relevance or matching score.</a:t>
            </a:r>
          </a:p>
          <a:p>
            <a:r>
              <a:rPr lang="en-US" sz="5600" b="1" dirty="0">
                <a:latin typeface="Times New Roman" panose="02020603050405020304" pitchFamily="18" charset="0"/>
                <a:cs typeface="Times New Roman" panose="02020603050405020304" pitchFamily="18" charset="0"/>
              </a:rPr>
              <a:t>Course Comparison</a:t>
            </a:r>
          </a:p>
          <a:p>
            <a:r>
              <a:rPr lang="en-US" sz="5600" dirty="0">
                <a:latin typeface="Times New Roman" panose="02020603050405020304" pitchFamily="18" charset="0"/>
                <a:cs typeface="Times New Roman" panose="02020603050405020304" pitchFamily="18" charset="0"/>
              </a:rPr>
              <a:t>Allow students to compare multiple courses based on prerequisites, skills, and career relevance.</a:t>
            </a:r>
          </a:p>
          <a:p>
            <a:r>
              <a:rPr lang="en-US" sz="5600" b="1" dirty="0">
                <a:latin typeface="Times New Roman" panose="02020603050405020304" pitchFamily="18" charset="0"/>
                <a:cs typeface="Times New Roman" panose="02020603050405020304" pitchFamily="18" charset="0"/>
              </a:rPr>
              <a:t>User-Friendly Interface</a:t>
            </a:r>
          </a:p>
          <a:p>
            <a:r>
              <a:rPr lang="en-US" sz="5600" dirty="0">
                <a:latin typeface="Times New Roman" panose="02020603050405020304" pitchFamily="18" charset="0"/>
                <a:cs typeface="Times New Roman" panose="02020603050405020304" pitchFamily="18" charset="0"/>
              </a:rPr>
              <a:t>Provide a simple interface for exploring and selecting recommended courses.</a:t>
            </a:r>
            <a:endParaRPr lang="en-IN" sz="5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8082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74D28-28D9-4D63-C5CD-75708C6CF3CA}"/>
              </a:ext>
            </a:extLst>
          </p:cNvPr>
          <p:cNvSpPr>
            <a:spLocks noGrp="1"/>
          </p:cNvSpPr>
          <p:nvPr>
            <p:ph type="title"/>
          </p:nvPr>
        </p:nvSpPr>
        <p:spPr>
          <a:xfrm>
            <a:off x="3500284" y="747252"/>
            <a:ext cx="7682828" cy="245806"/>
          </a:xfrm>
        </p:spPr>
        <p:txBody>
          <a:bodyPr>
            <a:normAutofit fontScale="90000"/>
          </a:bodyPr>
          <a:lstStyle/>
          <a:p>
            <a:r>
              <a:rPr lang="en-IN" sz="4100" dirty="0">
                <a:latin typeface="Times New Roman" panose="02020603050405020304" pitchFamily="18" charset="0"/>
                <a:cs typeface="Times New Roman" panose="02020603050405020304" pitchFamily="18" charset="0"/>
              </a:rPr>
              <a:t>EXPECTED OUTPUT</a:t>
            </a:r>
          </a:p>
        </p:txBody>
      </p:sp>
      <p:sp>
        <p:nvSpPr>
          <p:cNvPr id="3" name="Text Placeholder 2">
            <a:extLst>
              <a:ext uri="{FF2B5EF4-FFF2-40B4-BE49-F238E27FC236}">
                <a16:creationId xmlns:a16="http://schemas.microsoft.com/office/drawing/2014/main" id="{42F65291-DF7B-DE49-1D4C-A3F26DB06245}"/>
              </a:ext>
            </a:extLst>
          </p:cNvPr>
          <p:cNvSpPr>
            <a:spLocks noGrp="1"/>
          </p:cNvSpPr>
          <p:nvPr>
            <p:ph type="body" idx="1"/>
          </p:nvPr>
        </p:nvSpPr>
        <p:spPr>
          <a:xfrm>
            <a:off x="3886200" y="1111045"/>
            <a:ext cx="7315200" cy="5240594"/>
          </a:xfrm>
        </p:spPr>
        <p:txBody>
          <a:bodyPr>
            <a:normAutofit/>
          </a:bodyPr>
          <a:lstStyle/>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Personalized course recommendations based on student preferences</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Faster and easier course selection</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Accurate matching of courses with student skills and interests</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Reduced confusion while choosing suitable courses</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Identification of courses that satisfy required prerequisites</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Easy search, filtering and comparison of courses</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Better alignment between selected courses and career goals</a:t>
            </a:r>
          </a:p>
          <a:p>
            <a:pPr marL="285750" indent="-285750">
              <a:lnSpc>
                <a:spcPct val="150000"/>
              </a:lnSpc>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Support for informed academic and career decisions</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0806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A2A22-2FD4-6E1E-37B4-5A3700ABF9EF}"/>
              </a:ext>
            </a:extLst>
          </p:cNvPr>
          <p:cNvSpPr>
            <a:spLocks noGrp="1"/>
          </p:cNvSpPr>
          <p:nvPr>
            <p:ph type="title"/>
          </p:nvPr>
        </p:nvSpPr>
        <p:spPr>
          <a:xfrm>
            <a:off x="3539613" y="0"/>
            <a:ext cx="7643499" cy="1179872"/>
          </a:xfrm>
        </p:spPr>
        <p:txBody>
          <a:bodyPr>
            <a:normAutofit/>
          </a:bodyPr>
          <a:lstStyle/>
          <a:p>
            <a:r>
              <a:rPr lang="en-IN" sz="4500" dirty="0">
                <a:latin typeface="Times New Roman" panose="020206030504050203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144B6D1D-48BB-D21B-8ECC-81C6D0B0327C}"/>
              </a:ext>
            </a:extLst>
          </p:cNvPr>
          <p:cNvSpPr>
            <a:spLocks noGrp="1"/>
          </p:cNvSpPr>
          <p:nvPr>
            <p:ph type="body" idx="1"/>
          </p:nvPr>
        </p:nvSpPr>
        <p:spPr>
          <a:xfrm>
            <a:off x="3557901" y="1179873"/>
            <a:ext cx="7643499" cy="4906296"/>
          </a:xfrm>
        </p:spPr>
        <p:txBody>
          <a:bodyPr>
            <a:noAutofit/>
          </a:bodyPr>
          <a:lstStyle/>
          <a:p>
            <a:pPr>
              <a:lnSpc>
                <a:spcPct val="150000"/>
              </a:lnSpc>
            </a:pPr>
            <a:r>
              <a:rPr lang="en-IN" sz="1600" dirty="0">
                <a:latin typeface="Times New Roman" panose="02020603050405020304" pitchFamily="18" charset="0"/>
                <a:cs typeface="Times New Roman" panose="02020603050405020304" pitchFamily="18" charset="0"/>
              </a:rPr>
              <a:t>The </a:t>
            </a:r>
            <a:r>
              <a:rPr lang="en-IN" sz="1600" b="1" dirty="0">
                <a:latin typeface="Times New Roman" panose="02020603050405020304" pitchFamily="18" charset="0"/>
                <a:cs typeface="Times New Roman" panose="02020603050405020304" pitchFamily="18" charset="0"/>
              </a:rPr>
              <a:t>Course Recommendation System</a:t>
            </a:r>
            <a:r>
              <a:rPr lang="en-IN" sz="1600" dirty="0">
                <a:latin typeface="Times New Roman" panose="02020603050405020304" pitchFamily="18" charset="0"/>
                <a:cs typeface="Times New Roman" panose="02020603050405020304" pitchFamily="18" charset="0"/>
              </a:rPr>
              <a:t> is an effective solution that helps students select courses based on their interests, academic background, prerequisites, skill level, and career goals. By providing personalized recommendations, the system simplifies the course selection process and reduces the time and effort required to find suitable courses. Its user-friendly interface enables students to search, compare, and explore course options with ease. The system also helps minimize incorrect course selections, allowing students to make informed academic decisions. As educational opportunities continue to expand, such a recommendation system plays an important role in guiding students toward the right learning path. With future enhancements such as AI-based recommendations, real-time updates, and integration with online learning platforms, the system can become even more accurate and efficient. Overall, the Course Recommendation System supports students in achieving their educational objectives and building a strong foundation for their future careers.</a:t>
            </a:r>
          </a:p>
        </p:txBody>
      </p:sp>
    </p:spTree>
    <p:extLst>
      <p:ext uri="{BB962C8B-B14F-4D97-AF65-F5344CB8AC3E}">
        <p14:creationId xmlns:p14="http://schemas.microsoft.com/office/powerpoint/2010/main" val="3630296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97285-C274-E401-77D5-E68168B2DF59}"/>
              </a:ext>
            </a:extLst>
          </p:cNvPr>
          <p:cNvSpPr>
            <a:spLocks noGrp="1"/>
          </p:cNvSpPr>
          <p:nvPr>
            <p:ph type="ctrTitle"/>
          </p:nvPr>
        </p:nvSpPr>
        <p:spPr>
          <a:xfrm>
            <a:off x="2281084" y="1298448"/>
            <a:ext cx="7098890" cy="3255264"/>
          </a:xfrm>
        </p:spPr>
        <p:txBody>
          <a:bodyPr/>
          <a:lstStyle/>
          <a:p>
            <a:r>
              <a:rPr lang="en-IN" dirty="0"/>
              <a:t>THANK YOU </a:t>
            </a:r>
            <a:br>
              <a:rPr lang="en-IN" dirty="0"/>
            </a:br>
            <a:endParaRPr lang="en-IN" dirty="0"/>
          </a:p>
        </p:txBody>
      </p:sp>
      <p:sp>
        <p:nvSpPr>
          <p:cNvPr id="3" name="Subtitle 2">
            <a:extLst>
              <a:ext uri="{FF2B5EF4-FFF2-40B4-BE49-F238E27FC236}">
                <a16:creationId xmlns:a16="http://schemas.microsoft.com/office/drawing/2014/main" id="{11C466E3-439B-5314-3BEC-567D3C8CC474}"/>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715257001"/>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{62FEAC2D-239B-469E-B49E-49C767E07854}TF5b254a55-10e1-4643-bbf8-937ce7de93d83f6f5cdd-93cdcc90233f</Template>
  <TotalTime>168</TotalTime>
  <Words>924</Words>
  <Application>Microsoft Office PowerPoint</Application>
  <PresentationFormat>Widescreen</PresentationFormat>
  <Paragraphs>60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Corbel</vt:lpstr>
      <vt:lpstr>Times New Roman</vt:lpstr>
      <vt:lpstr>Wingdings 2</vt:lpstr>
      <vt:lpstr>Frame</vt:lpstr>
      <vt:lpstr>Course Recommendation System</vt:lpstr>
      <vt:lpstr>ABSTRACT</vt:lpstr>
      <vt:lpstr>PROBLEM STATEMENT</vt:lpstr>
      <vt:lpstr>Objectives</vt:lpstr>
      <vt:lpstr>TOOLS AND TECHNOLOGIES</vt:lpstr>
      <vt:lpstr>Proposed Functionalities </vt:lpstr>
      <vt:lpstr>EXPECTED OUTPUT</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shrinithagandu@outlook.com</dc:creator>
  <cp:lastModifiedBy>shrinithagandu@outlook.com</cp:lastModifiedBy>
  <cp:revision>2</cp:revision>
  <dcterms:created xsi:type="dcterms:W3CDTF">2026-08-07T16:33:02Z</dcterms:created>
  <dcterms:modified xsi:type="dcterms:W3CDTF">2026-08-13T08:29:20Z</dcterms:modified>
</cp:coreProperties>
</file>